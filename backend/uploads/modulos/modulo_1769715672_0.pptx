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</p:embeddedFont>
    <p:embeddedFont>
      <p:font typeface="Roboto Slab" pitchFamily="2" charset="0"/>
      <p:regular r:id="rId15"/>
      <p:bold r:id="rId16"/>
    </p:embeddedFont>
    <p:embeddedFont>
      <p:font typeface="Roboto Slab Light" pitchFamily="2" charset="0"/>
      <p:regular r:id="rId17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  <a:srgbClr val="66A8EE"/>
    <a:srgbClr val="899E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7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74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6A8E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6A8E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Metodologías Ágiles en Desarrollo Móvil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1" y="7337634"/>
            <a:ext cx="24174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Paola Robles Martínez.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225635" y="1012388"/>
            <a:ext cx="10179129" cy="82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50"/>
              </a:lnSpc>
              <a:buNone/>
            </a:pPr>
            <a:r>
              <a:rPr lang="en-US" sz="5150" dirty="0" err="1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Índice</a:t>
            </a:r>
            <a:endParaRPr lang="en-US" sz="5150" dirty="0"/>
          </a:p>
        </p:txBody>
      </p:sp>
      <p:sp>
        <p:nvSpPr>
          <p:cNvPr id="4" name="Shape 2"/>
          <p:cNvSpPr/>
          <p:nvPr/>
        </p:nvSpPr>
        <p:spPr>
          <a:xfrm>
            <a:off x="667107" y="2120146"/>
            <a:ext cx="428744" cy="428744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738485" y="2155805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86351" y="2155865"/>
            <a:ext cx="4120634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Introducción al Desarrollo Ágil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86351" y="2627471"/>
            <a:ext cx="1267694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Principios fundamentales y su relevancia en el ecosistema móvil.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107" y="3313509"/>
            <a:ext cx="428744" cy="428744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738485" y="3349169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86351" y="3349228"/>
            <a:ext cx="285904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Características Clave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86351" y="3820835"/>
            <a:ext cx="1267694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Flexibilidad, colaboración y entrega continua.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107" y="4506873"/>
            <a:ext cx="428744" cy="428744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738485" y="4542532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86351" y="4542592"/>
            <a:ext cx="3838932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Etapas del Ciclo de Vida Ágil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86351" y="5014198"/>
            <a:ext cx="1267694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Desde la ideación hasta el lanzamiento y el mantenimiento.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107" y="5700236"/>
            <a:ext cx="428744" cy="428744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7" name="Text 15"/>
          <p:cNvSpPr/>
          <p:nvPr/>
        </p:nvSpPr>
        <p:spPr>
          <a:xfrm>
            <a:off x="738485" y="5735895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86351" y="5735955"/>
            <a:ext cx="285904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Beneficios y Desafíos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86351" y="6207562"/>
            <a:ext cx="1267694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Ventajas competitivas y obstáculos comunes.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107" y="6893600"/>
            <a:ext cx="428744" cy="428744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21" name="Text 19"/>
          <p:cNvSpPr/>
          <p:nvPr/>
        </p:nvSpPr>
        <p:spPr>
          <a:xfrm>
            <a:off x="738485" y="6929259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86351" y="6929318"/>
            <a:ext cx="455807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Mejores Prácticas y Herramientas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286351" y="7400925"/>
            <a:ext cx="1267694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Optimización de procesos y facilitación del trabajo en equipo.</a:t>
            </a:r>
            <a:endParaRPr lang="en-US" sz="15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DEBE5DB-89AD-C11E-5097-E3E08CB979D6}"/>
              </a:ext>
            </a:extLst>
          </p:cNvPr>
          <p:cNvSpPr/>
          <p:nvPr/>
        </p:nvSpPr>
        <p:spPr>
          <a:xfrm>
            <a:off x="12801600" y="7705844"/>
            <a:ext cx="1741714" cy="436670"/>
          </a:xfrm>
          <a:prstGeom prst="rect">
            <a:avLst/>
          </a:prstGeom>
          <a:solidFill>
            <a:srgbClr val="66A8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9277826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¿Qué es el Desarrollo Ágil en Móvil?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098" y="2279707"/>
            <a:ext cx="6611302" cy="27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desarrollo ágil para aplicaciones móviles se centra en la iteración rápida y la adaptación al cambio. A diferencia de los modelos tradicionales, que siguen un enfoque lineal, el agilismo prioriza la entrega de valor de forma incremental y constante, respondiendo a las necesidades cambiantes del mercado y del usuario.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597" y="5281994"/>
            <a:ext cx="6295616" cy="119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 es crucial en el dinámico mundo móvil, donde las tendencias y tecnologías evolucionan rápidamente.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467" y="2512584"/>
            <a:ext cx="5582364" cy="55823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632"/>
            <a:ext cx="8932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Principios y Características Clave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9201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2027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8721"/>
            <a:ext cx="6407944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1839039"/>
            <a:ext cx="680442" cy="6804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51084" y="2746177"/>
            <a:ext cx="37724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Flexibilidad y Adaptabilidad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51084" y="3236595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de ajustar los requisitos y el plan a lo largo del proyecto, respondiendo a la retroalimentación y los cambios del mercado.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7428548" y="2179201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202733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148721"/>
            <a:ext cx="6408063" cy="12192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1839039"/>
            <a:ext cx="680442" cy="68044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685842" y="2746177"/>
            <a:ext cx="30368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Colaboración Continua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7685842" y="323659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Interacción constante entre equipos, clientes y stakeholders, garantizando una alineación clara y retroalimentación en tiempo real.</a:t>
            </a:r>
            <a:endParaRPr lang="en-US" sz="1750" dirty="0"/>
          </a:p>
        </p:txBody>
      </p:sp>
      <p:sp>
        <p:nvSpPr>
          <p:cNvPr id="15" name="Shape 7"/>
          <p:cNvSpPr/>
          <p:nvPr/>
        </p:nvSpPr>
        <p:spPr>
          <a:xfrm>
            <a:off x="793790" y="5149572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202733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19092"/>
            <a:ext cx="6407944" cy="12192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4809411"/>
            <a:ext cx="680442" cy="680442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Entrega Incremental</a:t>
            </a:r>
            <a:endParaRPr lang="en-US" sz="2200" dirty="0"/>
          </a:p>
        </p:txBody>
      </p:sp>
      <p:sp>
        <p:nvSpPr>
          <p:cNvPr id="20" name="Text 9"/>
          <p:cNvSpPr/>
          <p:nvPr/>
        </p:nvSpPr>
        <p:spPr>
          <a:xfrm>
            <a:off x="1051084" y="6206966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Liberación de funcionalidades en pequeñas iteraciones (sprints), permitiendo que el usuario final pruebe y dé retroalimentación temprano.</a:t>
            </a:r>
            <a:endParaRPr lang="en-US" sz="1750" dirty="0"/>
          </a:p>
        </p:txBody>
      </p:sp>
      <p:sp>
        <p:nvSpPr>
          <p:cNvPr id="21" name="Shape 10"/>
          <p:cNvSpPr/>
          <p:nvPr/>
        </p:nvSpPr>
        <p:spPr>
          <a:xfrm>
            <a:off x="7428548" y="5149572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202733"/>
          </a:solidFill>
          <a:ln/>
        </p:spPr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119092"/>
            <a:ext cx="6408063" cy="121920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4809411"/>
            <a:ext cx="680442" cy="680442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Calidad Integrada</a:t>
            </a:r>
            <a:endParaRPr lang="en-US" sz="2200" dirty="0"/>
          </a:p>
        </p:txBody>
      </p:sp>
      <p:sp>
        <p:nvSpPr>
          <p:cNvPr id="26" name="Text 12"/>
          <p:cNvSpPr/>
          <p:nvPr/>
        </p:nvSpPr>
        <p:spPr>
          <a:xfrm>
            <a:off x="7685842" y="6206966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Pruebas y aseguramiento de la calidad en cada etapa, reduciendo defectos y garantizando una experiencia de usuario sólida.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620078"/>
            <a:ext cx="7564279" cy="70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Etapas del Ciclo de Vida Ágil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8670" y="1774984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2127528"/>
            <a:ext cx="4200763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8670" y="2301121"/>
            <a:ext cx="346555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Ideación y Planificación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8670" y="2788325"/>
            <a:ext cx="4200763" cy="1442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Definición del MVP (Producto Mínimo Viable), creación de un backlog inicial y estimación de los primeros sprints. Se definen las historias de usuario clave.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4699" y="1774984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699" y="2127528"/>
            <a:ext cx="4200882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4699" y="2301121"/>
            <a:ext cx="4049077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Diseño y Desarrollo (Sprints)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4699" y="2788325"/>
            <a:ext cx="4200882" cy="1802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Ejecución de ciclos cortos e iterativos (sprints), donde se diseñan, desarrollan y prueban funcionalidades específicas. Daily Scrums mantienen al equipo alineado.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848" y="1774984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848" y="2127528"/>
            <a:ext cx="4200882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848" y="2301121"/>
            <a:ext cx="2817495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Pruebas y Revisión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848" y="2788325"/>
            <a:ext cx="4200882" cy="1802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Pruebas exhaustivas de las funcionalidades desarrolladas en el sprint, seguidas de revisiones con stakeholders para obtener retroalimentación.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88670" y="4985147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5315188"/>
            <a:ext cx="6413897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8670" y="5511284"/>
            <a:ext cx="3793093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Lanzamiento y Despliegue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88670" y="5998488"/>
            <a:ext cx="6413897" cy="1081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Publicación de la aplicación en las tiendas (App Store, Google Play) una vez que el producto está listo y ha pasado todas las validaciones.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7833" y="4985147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833" y="5315188"/>
            <a:ext cx="6413897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7833" y="5511284"/>
            <a:ext cx="4025979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 Monitoreo y Mantenimiento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7833" y="5998488"/>
            <a:ext cx="6413897" cy="1442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del rendimiento de la aplicación, recolección de datos de uso y errores, y planificación de futuras mejoras y actualizaciones basadas en la retroalimentación de los usuarios.</a:t>
            </a:r>
            <a:endParaRPr lang="en-US" sz="17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42B0524-CB4A-2BAF-D5C5-9A58E8B06E59}"/>
              </a:ext>
            </a:extLst>
          </p:cNvPr>
          <p:cNvSpPr/>
          <p:nvPr/>
        </p:nvSpPr>
        <p:spPr>
          <a:xfrm>
            <a:off x="12801600" y="7705844"/>
            <a:ext cx="1741714" cy="4366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945" y="404574"/>
            <a:ext cx="5435084" cy="459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Beneficios en el Contexto Móvil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97777" y="1452800"/>
            <a:ext cx="6375712" cy="169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Velocidad de Lanzamiento: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Permite llevar el producto al mercado más rápido y con mayor frecuencia.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7778" y="3190237"/>
            <a:ext cx="6375712" cy="214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Adaptación al Cambio: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Facilita la incorporación de nuevas características o ajustes de diseño en respuesta a la evolución del mercado.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7778" y="5378783"/>
            <a:ext cx="6375712" cy="214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Calidad del Producto: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retroalimentación constante y las pruebas continuas reducen errores y mejoran la experiencia de usuario.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502247" y="882322"/>
            <a:ext cx="6620828" cy="164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Satisfacción del Cliente: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involucramiento del cliente durante todo el proceso asegura que el producto final cumpla con sus expectativas.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02247" y="2649344"/>
            <a:ext cx="7128153" cy="164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Reducción de Riesgos:</a:t>
            </a:r>
            <a:r>
              <a:rPr lang="en-US" sz="2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entrega incremental permite identificar y corregir problemas de forma temprana, evitando grandes desviaciones.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572" y="4534700"/>
            <a:ext cx="4855028" cy="42609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Desafíos Comunes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232303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770" y="2381131"/>
            <a:ext cx="306110" cy="3826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139559"/>
            <a:ext cx="30724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Comunicación Ineficaz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falta de comunicación clara puede llevar a malentendidos y retrasos.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362" y="2232303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2528" y="2381131"/>
            <a:ext cx="306110" cy="3826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5362" y="3139559"/>
            <a:ext cx="43705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Deriva del Alcance (Scope Creep)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flexibilidad puede, si no se gestiona, llevar a la adición constante de características fuera del plan.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04" y="503622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7770" y="5185053"/>
            <a:ext cx="306110" cy="38266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0604" y="5943481"/>
            <a:ext cx="33413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Dependencias del Equipo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Equipos interdependientes pueden enfrentar bloqueos si la coordinación no es óptima.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5362" y="5036225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2528" y="5185053"/>
            <a:ext cx="306110" cy="382667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Deuda Técnica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presión por la velocidad puede, en ocasiones, conducir a atajos que generan problemas a largo plazo.</a:t>
            </a:r>
            <a:endParaRPr lang="en-US" sz="17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FBF2BD7-46B8-F2C0-A64E-354CB4FEDD2A}"/>
              </a:ext>
            </a:extLst>
          </p:cNvPr>
          <p:cNvSpPr/>
          <p:nvPr/>
        </p:nvSpPr>
        <p:spPr>
          <a:xfrm>
            <a:off x="12801600" y="7705844"/>
            <a:ext cx="1741714" cy="4366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043" y="567809"/>
            <a:ext cx="5150763" cy="643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Mejores Prácticas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1043" y="1623536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1390531" y="1662113"/>
            <a:ext cx="3104198" cy="38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Definir un MVP Claro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90532" y="2172057"/>
            <a:ext cx="10398698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Enfocarse en un Producto Mínimo Viable que entregue valor esencial, para luego iterar sobre él.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21043" y="2913578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1390531" y="2952155"/>
            <a:ext cx="3319820" cy="38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Priorización Constante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90531" y="3462099"/>
            <a:ext cx="1251882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 el backlog de funcionalidades actualizado y priorizado por valor de negocio.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1043" y="4203621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1390531" y="4242197"/>
            <a:ext cx="3653076" cy="38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Integración Continua (CI)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90531" y="4752142"/>
            <a:ext cx="1251882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Realizar fusiones de código frecuentes para detectar conflictos y errores rápidamente.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1043" y="5493663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1390531" y="5532239"/>
            <a:ext cx="3986808" cy="38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Automatización de Pruebas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90531" y="6042184"/>
            <a:ext cx="1251882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pruebas automatizadas para asegurar la calidad y reducir el tiempo de verificación.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1043" y="6783705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1390531" y="6822281"/>
            <a:ext cx="6076236" cy="38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Retroalimentación Temprana y Frecuente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90531" y="7332226"/>
            <a:ext cx="1251882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Involucrar a los usuarios y stakeholders desde las primeras fases del desarrollo.</a:t>
            </a:r>
            <a:endParaRPr lang="en-US" sz="20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706F981-5DAE-F1B3-0D6D-4F5BB20D7C1F}"/>
              </a:ext>
            </a:extLst>
          </p:cNvPr>
          <p:cNvSpPr/>
          <p:nvPr/>
        </p:nvSpPr>
        <p:spPr>
          <a:xfrm>
            <a:off x="12801600" y="7694958"/>
            <a:ext cx="1741714" cy="4366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1488"/>
            <a:ext cx="66860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Herramientas Esenciales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957" y="2739866"/>
            <a:ext cx="1448872" cy="90725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280" y="2739866"/>
            <a:ext cx="1448872" cy="90725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603" y="2739866"/>
            <a:ext cx="1448872" cy="907256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926" y="2739866"/>
            <a:ext cx="1448872" cy="907256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6248" y="2739866"/>
            <a:ext cx="1448872" cy="90725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6571" y="2739866"/>
            <a:ext cx="1448872" cy="90725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793790" y="40482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Estas herramientas facilitan la gestión de proyectos, la comunicación y la colaboración entre los equipos de desarrollo móvil.</a:t>
            </a:r>
            <a:endParaRPr lang="en-US" sz="1750" dirty="0"/>
          </a:p>
        </p:txBody>
      </p:sp>
      <p:sp>
        <p:nvSpPr>
          <p:cNvPr id="10" name="Text 2"/>
          <p:cNvSpPr/>
          <p:nvPr/>
        </p:nvSpPr>
        <p:spPr>
          <a:xfrm>
            <a:off x="793790" y="46662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Jira / Trello: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Gestión de tareas, backlogs y sprints.</a:t>
            </a:r>
            <a:endParaRPr lang="en-US" sz="1750" dirty="0"/>
          </a:p>
        </p:txBody>
      </p:sp>
      <p:sp>
        <p:nvSpPr>
          <p:cNvPr id="11" name="Text 3"/>
          <p:cNvSpPr/>
          <p:nvPr/>
        </p:nvSpPr>
        <p:spPr>
          <a:xfrm>
            <a:off x="793790" y="51084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Slack / Microsoft Teams: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Comunicación y colaboración en tiempo real.</a:t>
            </a:r>
            <a:endParaRPr lang="en-US" sz="1750" dirty="0"/>
          </a:p>
        </p:txBody>
      </p:sp>
      <p:sp>
        <p:nvSpPr>
          <p:cNvPr id="12" name="Text 4"/>
          <p:cNvSpPr/>
          <p:nvPr/>
        </p:nvSpPr>
        <p:spPr>
          <a:xfrm>
            <a:off x="793790" y="55506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/ GitLab: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Control de versiones del código y colaboración de desarrollo.</a:t>
            </a:r>
            <a:endParaRPr lang="en-US" sz="1750" dirty="0"/>
          </a:p>
        </p:txBody>
      </p:sp>
      <p:sp>
        <p:nvSpPr>
          <p:cNvPr id="13" name="Text 5"/>
          <p:cNvSpPr/>
          <p:nvPr/>
        </p:nvSpPr>
        <p:spPr>
          <a:xfrm>
            <a:off x="793790" y="59928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Jenkins / CircleCI: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Automatización de CI/CD (Integración y Despliegue Continuo).</a:t>
            </a:r>
            <a:endParaRPr lang="en-US" sz="1750" dirty="0"/>
          </a:p>
        </p:txBody>
      </p:sp>
      <p:sp>
        <p:nvSpPr>
          <p:cNvPr id="14" name="Text 6"/>
          <p:cNvSpPr/>
          <p:nvPr/>
        </p:nvSpPr>
        <p:spPr>
          <a:xfrm>
            <a:off x="793790" y="64350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Confluence / Notion: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Documentación y gestión del conocimiento.</a:t>
            </a:r>
            <a:endParaRPr lang="en-US" sz="17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62397C3-ED42-1E71-30D1-D210CB091D7F}"/>
              </a:ext>
            </a:extLst>
          </p:cNvPr>
          <p:cNvSpPr/>
          <p:nvPr/>
        </p:nvSpPr>
        <p:spPr>
          <a:xfrm>
            <a:off x="12801600" y="7705844"/>
            <a:ext cx="1741714" cy="4366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3483" y="1634133"/>
            <a:ext cx="84233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Conclusiones y Próximos Pasos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988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Mensajes Clave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619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agilidad es esencial para el éxito en el desarrollo móvil.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041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Prioriza la colaboración y la entrega incremental.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463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adaptación constante es clave para la relevancia en el mercado.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90988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Próximos Pasos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56199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 un proyecto piloto para implementar metodologías ágiles.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6709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Capacita a tu equipo en los principios y herramientas ágiles.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17219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Fomenta una cultura de retroalimentación y mejora continua.</a:t>
            </a:r>
            <a:endParaRPr lang="en-US" sz="17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01A58F1-7601-7AE8-5604-06EB270531E6}"/>
              </a:ext>
            </a:extLst>
          </p:cNvPr>
          <p:cNvSpPr/>
          <p:nvPr/>
        </p:nvSpPr>
        <p:spPr>
          <a:xfrm>
            <a:off x="12801600" y="7705844"/>
            <a:ext cx="1741714" cy="436670"/>
          </a:xfrm>
          <a:prstGeom prst="rect">
            <a:avLst/>
          </a:prstGeom>
          <a:solidFill>
            <a:srgbClr val="66A8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865</Words>
  <Application>Microsoft Office PowerPoint</Application>
  <PresentationFormat>Personalizado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Roboto Slab</vt:lpstr>
      <vt:lpstr>Roboto Slab Light</vt:lpstr>
      <vt:lpstr>Arial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Paola Robles Martínez</dc:creator>
  <cp:lastModifiedBy>Paola Robles Martínez</cp:lastModifiedBy>
  <cp:revision>2</cp:revision>
  <dcterms:created xsi:type="dcterms:W3CDTF">2025-09-02T21:27:11Z</dcterms:created>
  <dcterms:modified xsi:type="dcterms:W3CDTF">2025-09-02T21:51:19Z</dcterms:modified>
</cp:coreProperties>
</file>